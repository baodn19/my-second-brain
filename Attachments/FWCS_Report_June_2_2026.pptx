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  <p:ext uri="GoogleSlidesCustomDataVersion2">
      <go:slidesCustomData xmlns:go="http://customooxmlschemas.google.com/" r:id="rId25" roundtripDataSignature="AMtx7mh1zfCYCAAMILBC1A4iR8GNrNSw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‘&lt;Your &gt; Chapter – This is the name of the ‘report’  i.e. Business Mgr., Treasurer, Chapter Name, Affinity Group Name or Student Branch Name 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3/30/2020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4f9ae3638_0_13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4f9ae3638_0_13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4f9ae3638_0_13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4f9ae3638_0_28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4f9ae3638_0_28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e4f9ae3638_0_28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f9ae3638_0_29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4f9ae3638_0_29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e4f9ae3638_0_290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f9ae3638_0_28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4f9ae3638_0_28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e4f9ae3638_0_280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06e7f1ab_0_3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706e7f1ab_0_3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706e7f1ab_0_3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75623d227_0_7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75623d227_0_7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75623d227_0_7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75623d227_0_1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75623d227_0_1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75623d227_0_15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75623d227_0_22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75623d227_0_22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75623d227_0_22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5623d227_0_29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75623d227_0_29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75623d227_0_29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5623d227_0_44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75623d227_0_44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75623d227_0_44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75623d227_0_5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75623d227_0_51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75623d227_0_51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75623d227_0_7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75623d227_0_7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75623d227_0_75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75623d227_0_36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75623d227_0_36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75623d227_0_36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75623d227_0_6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75623d227_0_6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e75623d227_0_60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75623d227_0_93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75623d227_0_93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e75623d227_0_93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3/30/2020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75623d227_0_84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4" name="Google Shape;194;g3e75623d227_0_84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75623d227_0_84:notes"/>
          <p:cNvSpPr txBox="1"/>
          <p:nvPr>
            <p:ph idx="10" type="dt"/>
          </p:nvPr>
        </p:nvSpPr>
        <p:spPr>
          <a:xfrm>
            <a:off x="4143375" y="0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3/30/2020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e75623d227_0_84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3/30/2020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25" spcFirstLastPara="1" rIns="96625" wrap="square" tIns="48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EEE-USA" id="17" name="Google Shape;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172200"/>
            <a:ext cx="1371600" cy="38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EEE_TAG_BLUE.png" id="18" name="Google Shape;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943600"/>
            <a:ext cx="1143000" cy="6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8"/>
          <p:cNvSpPr txBox="1"/>
          <p:nvPr>
            <p:ph type="ctrTitle"/>
          </p:nvPr>
        </p:nvSpPr>
        <p:spPr>
          <a:xfrm>
            <a:off x="1295400" y="822325"/>
            <a:ext cx="716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" type="subTitle"/>
          </p:nvPr>
        </p:nvSpPr>
        <p:spPr>
          <a:xfrm>
            <a:off x="1185863" y="3962400"/>
            <a:ext cx="3919537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760"/>
              <a:buFont typeface="Noto Sans Symbols"/>
              <a:buNone/>
              <a:defRPr b="1" sz="2200">
                <a:solidFill>
                  <a:schemeClr val="dk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2743200" y="62484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2" type="sldNum"/>
          </p:nvPr>
        </p:nvSpPr>
        <p:spPr>
          <a:xfrm>
            <a:off x="29718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Verdana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560"/>
              </a:spcBef>
              <a:spcAft>
                <a:spcPts val="0"/>
              </a:spcAft>
              <a:buSzPts val="224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Verdan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560"/>
              </a:spcBef>
              <a:spcAft>
                <a:spcPts val="0"/>
              </a:spcAft>
              <a:buSzPts val="224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Verdan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480"/>
              </a:spcBef>
              <a:spcAft>
                <a:spcPts val="0"/>
              </a:spcAft>
              <a:buSzPts val="192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Verdan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37" name="Google Shape;37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480"/>
              </a:spcBef>
              <a:spcAft>
                <a:spcPts val="0"/>
              </a:spcAft>
              <a:buSzPts val="192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Verdan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1160" lvl="0" marL="457200" algn="l">
              <a:spcBef>
                <a:spcPts val="640"/>
              </a:spcBef>
              <a:spcAft>
                <a:spcPts val="0"/>
              </a:spcAft>
              <a:buSzPts val="256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Verdana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Verdana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•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Verdana"/>
              <a:buChar char="–"/>
              <a:defRPr b="0" i="0" sz="2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68300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3886200" y="6172200"/>
            <a:ext cx="312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2" type="sldNum"/>
          </p:nvPr>
        </p:nvSpPr>
        <p:spPr>
          <a:xfrm>
            <a:off x="32004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EEE-USA" id="14" name="Google Shape;1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400" y="6096000"/>
            <a:ext cx="1371600" cy="38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EEE_TAG_BLUE.png" id="15" name="Google Shape;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67400"/>
            <a:ext cx="1143000" cy="6413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228600" y="609600"/>
            <a:ext cx="8686800" cy="27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Florida West Coast Report </a:t>
            </a:r>
            <a:br>
              <a:rPr lang="en-US" sz="3600"/>
            </a:br>
            <a:r>
              <a:rPr lang="en-US" sz="3600"/>
              <a:t> </a:t>
            </a:r>
            <a:br>
              <a:rPr lang="en-US" sz="3600"/>
            </a:br>
            <a:r>
              <a:rPr lang="en-US" sz="4000"/>
              <a:t>IEEE USF </a:t>
            </a:r>
            <a:r>
              <a:rPr lang="en-US" sz="4000"/>
              <a:t>Chapter</a:t>
            </a:r>
            <a:br>
              <a:rPr lang="en-US" sz="4000"/>
            </a:br>
            <a:br>
              <a:rPr lang="en-US" sz="1600"/>
            </a:br>
            <a:br>
              <a:rPr lang="en-US" sz="4000"/>
            </a:br>
            <a:r>
              <a:rPr lang="en-US" sz="3200"/>
              <a:t>June 2, 2026</a:t>
            </a:r>
            <a:endParaRPr/>
          </a:p>
        </p:txBody>
      </p:sp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109030" y="4441637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rPr lang="en-US" sz="2600"/>
              <a:t>Adrian Gonzalez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rPr lang="en-US" sz="2600"/>
              <a:t>Chair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rPr lang="en-US" sz="2600"/>
              <a:t>chair@ieeeusf.com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58" name="Google Shape;58;p1"/>
          <p:cNvSpPr txBox="1"/>
          <p:nvPr/>
        </p:nvSpPr>
        <p:spPr>
          <a:xfrm>
            <a:off x="4572000" y="4398025"/>
            <a:ext cx="4463100" cy="19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Aitor Castellanos-Neri</a:t>
            </a:r>
            <a:endParaRPr b="1" sz="2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r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Vice </a:t>
            </a:r>
            <a:r>
              <a:rPr b="1" lang="en-US" sz="26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Chair</a:t>
            </a:r>
            <a:endParaRPr b="1" sz="2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r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vice</a:t>
            </a:r>
            <a:r>
              <a:rPr b="1" lang="en-US" sz="26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chair@ieeeusf.com</a:t>
            </a:r>
            <a:endParaRPr b="1" sz="2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r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4f9ae3638_0_1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2025 - 2026 Year Recap</a:t>
            </a:r>
            <a:endParaRPr/>
          </a:p>
        </p:txBody>
      </p:sp>
      <p:sp>
        <p:nvSpPr>
          <p:cNvPr id="65" name="Google Shape;65;g3e4f9ae3638_0_13"/>
          <p:cNvSpPr txBox="1"/>
          <p:nvPr>
            <p:ph idx="1" type="body"/>
          </p:nvPr>
        </p:nvSpPr>
        <p:spPr>
          <a:xfrm>
            <a:off x="685800" y="1425164"/>
            <a:ext cx="7772400" cy="463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Revitalize the club</a:t>
            </a:r>
            <a:r>
              <a:rPr b="1" lang="en-US" sz="2300"/>
              <a:t> </a:t>
            </a:r>
            <a:endParaRPr b="1" sz="23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2024 - 2025 total check-ins</a:t>
            </a:r>
            <a:r>
              <a:rPr lang="en-US" sz="2000"/>
              <a:t> </a:t>
            </a:r>
            <a:r>
              <a:rPr b="1" lang="en-US" sz="2000"/>
              <a:t>829</a:t>
            </a:r>
            <a:r>
              <a:rPr lang="en-US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2025 - 2026 total check-ins</a:t>
            </a:r>
            <a:r>
              <a:rPr lang="en-US" sz="2000"/>
              <a:t> </a:t>
            </a:r>
            <a:r>
              <a:rPr b="1" lang="en-US" sz="2000"/>
              <a:t>2734</a:t>
            </a:r>
            <a:r>
              <a:rPr lang="en-US" sz="2000"/>
              <a:t>.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/>
              <a:t>(Average of 95 people per week)</a:t>
            </a:r>
            <a:endParaRPr i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Increase our collaborations with other ENG groups</a:t>
            </a:r>
            <a:endParaRPr b="1" sz="21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Collaborated with ACM, WhiteHatters, ISA, AAU, Bellini, SMTA, IEEE PES, SCOPE, SWE, WiCys, 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Greater integration with our Sister Chapters PES, MTT, EDS and CS.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Did weekly collaboration meetings between sister chapters. Will restart meetings again soon.</a:t>
            </a:r>
            <a:endParaRPr b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66" name="Google Shape;66;g3e4f9ae3638_0_13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4f9ae3638_0_2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Former </a:t>
            </a:r>
            <a:r>
              <a:rPr lang="en-US"/>
              <a:t>Structure</a:t>
            </a:r>
            <a:endParaRPr/>
          </a:p>
        </p:txBody>
      </p:sp>
      <p:sp>
        <p:nvSpPr>
          <p:cNvPr id="73" name="Google Shape;73;g3e4f9ae3638_0_28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g3e4f9ae3638_0_28" title="Old_Organiz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48" y="2011868"/>
            <a:ext cx="8839199" cy="276857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e4f9ae3638_0_28"/>
          <p:cNvSpPr txBox="1"/>
          <p:nvPr/>
        </p:nvSpPr>
        <p:spPr>
          <a:xfrm>
            <a:off x="2365350" y="5039725"/>
            <a:ext cx="44133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11 Board Members</a:t>
            </a:r>
            <a:endParaRPr sz="2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f9ae3638_0_29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Previously Offered Technical Programs</a:t>
            </a:r>
            <a:endParaRPr/>
          </a:p>
        </p:txBody>
      </p:sp>
      <p:sp>
        <p:nvSpPr>
          <p:cNvPr id="82" name="Google Shape;82;g3e4f9ae3638_0_29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Electrathon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Vex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EXO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Workshop Lab Sessions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e4f9ae3638_0_290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f9ae3638_0_28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Structure</a:t>
            </a:r>
            <a:endParaRPr/>
          </a:p>
        </p:txBody>
      </p:sp>
      <p:sp>
        <p:nvSpPr>
          <p:cNvPr id="90" name="Google Shape;90;g3e4f9ae3638_0_280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g3e4f9ae3638_0_280"/>
          <p:cNvSpPr txBox="1"/>
          <p:nvPr/>
        </p:nvSpPr>
        <p:spPr>
          <a:xfrm>
            <a:off x="2365350" y="5039725"/>
            <a:ext cx="44133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</a:t>
            </a:r>
            <a:r>
              <a:rPr lang="en-US"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Board Members</a:t>
            </a:r>
            <a:endParaRPr sz="2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" name="Google Shape;92;g3e4f9ae3638_0_280" title="New_Organiz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13" y="1195750"/>
            <a:ext cx="8736775" cy="39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706e7f1ab_0_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Currently Offered Technical Programs</a:t>
            </a:r>
            <a:endParaRPr/>
          </a:p>
        </p:txBody>
      </p:sp>
      <p:sp>
        <p:nvSpPr>
          <p:cNvPr id="99" name="Google Shape;99;g3e706e7f1ab_0_3"/>
          <p:cNvSpPr txBox="1"/>
          <p:nvPr>
            <p:ph idx="1" type="body"/>
          </p:nvPr>
        </p:nvSpPr>
        <p:spPr>
          <a:xfrm>
            <a:off x="685800" y="1774043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SWARM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SoutheastCon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RTX AVC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EXO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Workshop Lab Sessions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706e7f1ab_0_3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75623d227_0_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SWARM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(Student Workspace for Aerial Robotics and Mechatronics)</a:t>
            </a:r>
            <a:endParaRPr sz="1800"/>
          </a:p>
        </p:txBody>
      </p:sp>
      <p:sp>
        <p:nvSpPr>
          <p:cNvPr id="107" name="Google Shape;107;g3e75623d227_0_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IEEE at USF's drone and autonomous systems program. The program gives students hands-on experience with drone hardware, flight software, FPV systems, and </a:t>
            </a:r>
            <a:r>
              <a:rPr lang="en-US" sz="2000"/>
              <a:t>autonomous</a:t>
            </a:r>
            <a:r>
              <a:rPr lang="en-US" sz="2000"/>
              <a:t> mission planning and flight operations.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Members work on projects that range from beginner-friendly FPV drones to larger autonomous platforms with real engineering applications.</a:t>
            </a:r>
            <a:endParaRPr sz="2000"/>
          </a:p>
        </p:txBody>
      </p:sp>
      <p:sp>
        <p:nvSpPr>
          <p:cNvPr id="108" name="Google Shape;108;g3e75623d227_0_7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5623d227_0_1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SoutheastCon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Not just a senior capstone.</a:t>
            </a:r>
            <a:endParaRPr sz="1800"/>
          </a:p>
        </p:txBody>
      </p:sp>
      <p:sp>
        <p:nvSpPr>
          <p:cNvPr id="115" name="Google Shape;115;g3e75623d227_0_15"/>
          <p:cNvSpPr txBox="1"/>
          <p:nvPr>
            <p:ph idx="1" type="body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This is a new structure where we are opening up SoutheastCon participation to the all members of IEEE at USF as a technical program. Previously, we sponsored the Hardware Design Team as their Senior Design capstone.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Going forward, the Technical Chair will assign participation across the different competitions based on member interest.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For Hardware specifically, the Main Competition group will consist of capstone members, while the Open Section Hardware team will consist of IEEE at USF club members.</a:t>
            </a:r>
            <a:endParaRPr sz="2000"/>
          </a:p>
        </p:txBody>
      </p:sp>
      <p:sp>
        <p:nvSpPr>
          <p:cNvPr id="116" name="Google Shape;116;g3e75623d227_0_15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75623d227_0_2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EXO</a:t>
            </a:r>
            <a:endParaRPr/>
          </a:p>
        </p:txBody>
      </p:sp>
      <p:sp>
        <p:nvSpPr>
          <p:cNvPr id="123" name="Google Shape;123;g3e75623d227_0_22"/>
          <p:cNvSpPr txBox="1"/>
          <p:nvPr>
            <p:ph idx="1" type="body"/>
          </p:nvPr>
        </p:nvSpPr>
        <p:spPr>
          <a:xfrm>
            <a:off x="685800" y="1861376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EXO is a hands-on technical program at IEEE at USF where students design, prototype, and test a lower-body assistive exoskeleton.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The program partners with CARRT to ground its design in real biomechanical testing, and gives members direct experience across robotics, mobility design, prototyping, testing, and engineering documentation — the kind of full-cycle engineering work that's hard to get anywhere else as a student.</a:t>
            </a:r>
            <a:endParaRPr sz="2000"/>
          </a:p>
        </p:txBody>
      </p:sp>
      <p:sp>
        <p:nvSpPr>
          <p:cNvPr id="124" name="Google Shape;124;g3e75623d227_0_22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75623d227_0_2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RTX AVC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75623d227_0_29"/>
          <p:cNvSpPr txBox="1"/>
          <p:nvPr>
            <p:ph idx="1" type="body"/>
          </p:nvPr>
        </p:nvSpPr>
        <p:spPr>
          <a:xfrm>
            <a:off x="685800" y="1861376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This is a new structure where we are opening up RTX AVC competition to a few student members at IEEE at USF as a technical program. Previously, IEEE at USF was instrumental with providing resources and knowledge to that capstone for competing. 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The technical chair serves as a lead of the program and as a member of that capstone. There will also be a select number of juniors selected via merit to participate along side to gain experience for the next year.</a:t>
            </a:r>
            <a:endParaRPr sz="2000"/>
          </a:p>
        </p:txBody>
      </p:sp>
      <p:sp>
        <p:nvSpPr>
          <p:cNvPr id="132" name="Google Shape;132;g3e75623d227_0_29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75623d227_0_4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Workshops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Lab Sessions and Presentations</a:t>
            </a:r>
            <a:endParaRPr sz="1800"/>
          </a:p>
        </p:txBody>
      </p:sp>
      <p:sp>
        <p:nvSpPr>
          <p:cNvPr id="139" name="Google Shape;139;g3e75623d227_0_44"/>
          <p:cNvSpPr txBox="1"/>
          <p:nvPr>
            <p:ph idx="1" type="body"/>
          </p:nvPr>
        </p:nvSpPr>
        <p:spPr>
          <a:xfrm>
            <a:off x="685800" y="1861376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Expanded from single officer to a three-role system</a:t>
            </a:r>
            <a:endParaRPr sz="2000"/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Presentation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Lab Session Lead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R&amp;D Leads (development &amp; validation)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New Direction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Increase number of workshops per semester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Introduce specialized technical tracks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Move from one-off events → structured learning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Focus on tools and systems used in real engineering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Goal: expose members to multiple technical domains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0" name="Google Shape;140;g3e75623d227_0_44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75623d227_0_5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Workshop Presentations</a:t>
            </a:r>
            <a:endParaRPr/>
          </a:p>
        </p:txBody>
      </p:sp>
      <p:sp>
        <p:nvSpPr>
          <p:cNvPr id="147" name="Google Shape;147;g3e75623d227_0_51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g3e75623d227_0_51"/>
          <p:cNvSpPr txBox="1"/>
          <p:nvPr/>
        </p:nvSpPr>
        <p:spPr>
          <a:xfrm>
            <a:off x="123550" y="2152325"/>
            <a:ext cx="42681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Core Workshops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Soldering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Microcontrollers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PCB Design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3D Modeling (CAD)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9" name="Google Shape;149;g3e75623d227_0_51"/>
          <p:cNvSpPr txBox="1"/>
          <p:nvPr/>
        </p:nvSpPr>
        <p:spPr>
          <a:xfrm>
            <a:off x="4409750" y="2152325"/>
            <a:ext cx="4734300" cy="3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Track Workshops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Communications: Audio Processing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Power: PSSE / Revit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RF / WAMI: Intro to ADS, Intro to HFSS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Micro Nano: 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Build a Small Sig. 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Amplifier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!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Mechatronics: PLC Workshop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Bioelectrical Systems: Pulse Ox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Systems &amp; Security: Encryption, HackTheBox</a:t>
            </a:r>
            <a:endParaRPr sz="21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75623d227_0_7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Professional Development</a:t>
            </a:r>
            <a:endParaRPr/>
          </a:p>
        </p:txBody>
      </p:sp>
      <p:sp>
        <p:nvSpPr>
          <p:cNvPr id="156" name="Google Shape;156;g3e75623d227_0_75"/>
          <p:cNvSpPr txBox="1"/>
          <p:nvPr>
            <p:ph idx="1" type="body"/>
          </p:nvPr>
        </p:nvSpPr>
        <p:spPr>
          <a:xfrm>
            <a:off x="685800" y="1510400"/>
            <a:ext cx="7772400" cy="458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/>
              <a:t>Operates as its own program within IEEE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/>
              <a:t>Hosts company-sponsored events (talks, workshops, networking)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36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Works alongside all technical programs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Helps members turn projects into: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Resume experience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Portfolio (GitHub, documentation)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Talking points for interviews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Guides students on how to present what they’ve built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Ensures technical work becomes marketable and recognizable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57" name="Google Shape;157;g3e75623d227_0_75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75623d227_0_3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Logo and Name</a:t>
            </a:r>
            <a:endParaRPr/>
          </a:p>
        </p:txBody>
      </p:sp>
      <p:sp>
        <p:nvSpPr>
          <p:cNvPr id="164" name="Google Shape;164;g3e75623d227_0_36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5" name="Google Shape;165;g3e75623d227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050" y="1373289"/>
            <a:ext cx="4795911" cy="480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75623d227_0_6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Technical Program Logos</a:t>
            </a:r>
            <a:endParaRPr/>
          </a:p>
        </p:txBody>
      </p:sp>
      <p:sp>
        <p:nvSpPr>
          <p:cNvPr id="172" name="Google Shape;172;g3e75623d227_0_60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g3e75623d227_0_6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Coming Soon!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75623d227_0_9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IEEE USF Student Branch Leadership Scholarship</a:t>
            </a:r>
            <a:endParaRPr/>
          </a:p>
        </p:txBody>
      </p:sp>
      <p:sp>
        <p:nvSpPr>
          <p:cNvPr id="180" name="Google Shape;180;g3e75623d227_0_9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Provides scholarships to full-time undergraduate students studying in all majors in the College of Engineering at USF. 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Student must be a member of both the IEEE USF Student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Branch and the IEEE national organization.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Ready to start helping students during the USF AwardSpring next </a:t>
            </a:r>
            <a:r>
              <a:rPr lang="en-US" sz="1800"/>
              <a:t>cycle</a:t>
            </a:r>
            <a:r>
              <a:rPr lang="en-US" sz="1800"/>
              <a:t>.</a:t>
            </a:r>
            <a:endParaRPr sz="1800"/>
          </a:p>
        </p:txBody>
      </p:sp>
      <p:sp>
        <p:nvSpPr>
          <p:cNvPr id="181" name="Google Shape;181;g3e75623d227_0_93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2" name="Google Shape;182;g3e75623d227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150" y="4400573"/>
            <a:ext cx="3563700" cy="15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/>
          <p:nvPr>
            <p:ph type="title"/>
          </p:nvPr>
        </p:nvSpPr>
        <p:spPr>
          <a:xfrm>
            <a:off x="213831" y="380171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 Items</a:t>
            </a:r>
            <a:endParaRPr/>
          </a:p>
        </p:txBody>
      </p:sp>
      <p:sp>
        <p:nvSpPr>
          <p:cNvPr id="190" name="Google Shape;190;p5"/>
          <p:cNvSpPr txBox="1"/>
          <p:nvPr>
            <p:ph idx="12" type="sldNum"/>
          </p:nvPr>
        </p:nvSpPr>
        <p:spPr>
          <a:xfrm>
            <a:off x="29718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Noto Sans Symbols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 txBox="1"/>
          <p:nvPr>
            <p:ph idx="1" type="body"/>
          </p:nvPr>
        </p:nvSpPr>
        <p:spPr>
          <a:xfrm>
            <a:off x="209550" y="1415016"/>
            <a:ext cx="8782200" cy="3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•"/>
            </a:pPr>
            <a:r>
              <a:rPr lang="en-US"/>
              <a:t>Need Affirmation letter for our chapter (University of South Florida)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Is it ok to put in old events that </a:t>
            </a:r>
            <a:r>
              <a:rPr lang="en-US"/>
              <a:t>occurred</a:t>
            </a:r>
            <a:r>
              <a:rPr lang="en-US"/>
              <a:t>?</a:t>
            </a:r>
            <a:br>
              <a:rPr lang="en-US"/>
            </a:b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n-US"/>
              <a:t>We would like to know when our chapter was established.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75623d227_0_84"/>
          <p:cNvSpPr txBox="1"/>
          <p:nvPr>
            <p:ph type="title"/>
          </p:nvPr>
        </p:nvSpPr>
        <p:spPr>
          <a:xfrm>
            <a:off x="213831" y="380171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 Items</a:t>
            </a:r>
            <a:endParaRPr/>
          </a:p>
        </p:txBody>
      </p:sp>
      <p:sp>
        <p:nvSpPr>
          <p:cNvPr id="199" name="Google Shape;199;g3e75623d227_0_84"/>
          <p:cNvSpPr txBox="1"/>
          <p:nvPr>
            <p:ph idx="12" type="sldNum"/>
          </p:nvPr>
        </p:nvSpPr>
        <p:spPr>
          <a:xfrm>
            <a:off x="2971800" y="6172200"/>
            <a:ext cx="685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Noto Sans Symbols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e75623d227_0_84"/>
          <p:cNvSpPr txBox="1"/>
          <p:nvPr>
            <p:ph idx="1" type="body"/>
          </p:nvPr>
        </p:nvSpPr>
        <p:spPr>
          <a:xfrm>
            <a:off x="209550" y="1000464"/>
            <a:ext cx="8782200" cy="50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Thanks Ronald Ambrosio!</a:t>
            </a:r>
            <a:endParaRPr/>
          </a:p>
        </p:txBody>
      </p:sp>
      <p:pic>
        <p:nvPicPr>
          <p:cNvPr id="201" name="Google Shape;201;g3e75623d227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114" y="1714127"/>
            <a:ext cx="6977775" cy="41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/>
          <p:nvPr>
            <p:ph idx="12" type="sldNum"/>
          </p:nvPr>
        </p:nvSpPr>
        <p:spPr>
          <a:xfrm>
            <a:off x="2971800" y="61722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Noto Sans Symbols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healthcareersinteraction.com/images/faq_questionmark.jpg" id="209" name="Google Shape;2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1143000"/>
            <a:ext cx="2857500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~9771493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2008-10-21T14:29:15Z</dcterms:created>
  <dc:creator>Yolanda Paskovich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7d30a092-24fa-4731-b0d4-e60ec9c96f51</vt:lpwstr>
  </property>
</Properties>
</file>